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  <p:sldId id="26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16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06D603-3AFB-EFA5-5903-946C61322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EB8C96A-B1C4-AB5A-83A5-4178CC1147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E6A0C1-065E-F26E-F118-D720F5E4B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18127-9903-42B8-9CF5-894C9AEF0ADA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B906BA-1EC0-25E6-E841-17AB82B61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99C8FE-F121-CF9C-4A02-1CE73B3B3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8382E-5B6A-41E3-8733-3DB3E6941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2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00C22F-0849-69D4-E5B4-6363BACF1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B0DEB3-751F-1AEA-880A-FD2EBEC12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68FD9F-850F-14F6-BADD-04E4031CB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18127-9903-42B8-9CF5-894C9AEF0ADA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9E2BE5-94B0-53CD-E645-399B469BF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B308B6-7CE7-919F-2731-A686BCFC4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8382E-5B6A-41E3-8733-3DB3E6941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7366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6293A6-3421-C0D0-F7FD-6FC94CC86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7A418A-59A3-565E-B516-A5EB11442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A72675-9FCD-4E3A-F8F3-3E6026F1B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18127-9903-42B8-9CF5-894C9AEF0ADA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DD4110-3FBB-E587-0182-C47D6F6D1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38CE9F-48B0-3D11-05A9-6189C2F01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8382E-5B6A-41E3-8733-3DB3E6941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90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30DEC3-99B9-1346-4328-BCA7598DE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30C47E-E893-8E7B-2366-F36302044E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1CB060F-DC2B-8468-14D9-3253ECA16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6D1309-B537-77CD-9D5C-DDEC55E98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18127-9903-42B8-9CF5-894C9AEF0ADA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B99CCD-858B-CABB-883F-60FC9BA80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79E7EA-8E5C-2B15-0E61-37E58F7CC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8382E-5B6A-41E3-8733-3DB3E6941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7851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0ACA30-90BF-9C9D-2471-05EA28EC7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DC8C1B-CCD3-1B5F-90E9-E8C7A7993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8F7BC0-B7A3-63FB-E79E-7F8C9E2EB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DE5F4D4-DA45-72EB-DBF6-F107ACFF7B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9CA515-D379-C311-A55C-F8932C2457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B28F830-C721-9959-D123-9392E4E0A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18127-9903-42B8-9CF5-894C9AEF0ADA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58B3F1E-14C7-A66C-B788-D43F3840C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18952C5-AF68-FBFE-421F-7B433D27E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8382E-5B6A-41E3-8733-3DB3E6941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372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B41BF7-A5B5-CA09-D464-C494300C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4E186B6-264E-8076-FFCE-A95792A6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18127-9903-42B8-9CF5-894C9AEF0ADA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0E7DA95-9E6C-B559-DF66-280DEEE2F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D27747-1C8A-730D-6B78-E07A7AA0E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8382E-5B6A-41E3-8733-3DB3E6941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230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262E354-9B79-942A-8F7C-D129707AF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18127-9903-42B8-9CF5-894C9AEF0ADA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0DD1C99-DF77-AE1A-83B8-7F7F63B72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CF2FC4-8067-AEBD-2981-BC82C4D1F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8382E-5B6A-41E3-8733-3DB3E6941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6117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B3738E-D731-006D-CD5E-B642E8AA2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E68440-B3CC-38C7-0A67-7AC85CB4B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2B1CB9-C4B4-B73A-395B-B65874E15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5C0026-903D-BD4E-BC9A-CE56F54F7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18127-9903-42B8-9CF5-894C9AEF0ADA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0FFF06-7562-F859-4F24-566D10E51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3366FA-52C0-7772-CBED-EA87C7CF0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8382E-5B6A-41E3-8733-3DB3E6941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0147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09B74B-47A1-9354-1430-BE63383BB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AC42205-50C5-4CD0-B7F2-75BC6C3460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BD19DE-4B90-806E-EFD2-16C3C5175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832DFB-E75F-BBA7-5758-9D24F4656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18127-9903-42B8-9CF5-894C9AEF0ADA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488AB3-54FC-D0D1-1BB3-A7348E3B5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D13870-58DD-C26E-BF95-919A380B1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8382E-5B6A-41E3-8733-3DB3E6941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4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F76BCE-3D93-57CA-03D1-9D4606A2C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D40609-6077-8F4D-4EBC-9E86BA3F0B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A5BBA1-A42F-C4F9-B280-97F04E1BF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18127-9903-42B8-9CF5-894C9AEF0ADA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378622-3851-7C08-958A-B7585328C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49898B-F6D1-B183-88E7-73FED8F9D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8382E-5B6A-41E3-8733-3DB3E6941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229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CD5C3C-0ABC-4317-31D1-DFE30BE150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DFA662-1DD6-1CA4-28F6-F0EC697B7F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AACB5D-C04C-AB18-76DD-C99D29B79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18127-9903-42B8-9CF5-894C9AEF0ADA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8D5A04-529A-EE66-F6FF-3CE791851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1E7CF0-1D2B-E55B-C7ED-7C2890B01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8382E-5B6A-41E3-8733-3DB3E6941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230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2A8F91-8013-B468-FB41-EF1AD3FF4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6B00F0-9AF6-3892-7FA9-E3A6905B6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20DB27-6025-6AC6-05C7-6046CF846D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018127-9903-42B8-9CF5-894C9AEF0ADA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416AF9-FDE2-B475-2EAE-3D2B1652AA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FC421B-C83B-3997-EB29-9B110FE4B2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08382E-5B6A-41E3-8733-3DB3E6941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233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8EF291-CF21-8E96-2347-93A7BE10C4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Proximal Policy Optimization Algorithms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CF75908-F242-9D11-ECEE-74B10891F1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US" altLang="ko-KR" dirty="0"/>
              <a:t>20201622 </a:t>
            </a:r>
            <a:r>
              <a:rPr lang="ko-KR" altLang="en-US" dirty="0"/>
              <a:t>이시욱</a:t>
            </a:r>
            <a:endParaRPr lang="en-US" altLang="ko-KR" dirty="0"/>
          </a:p>
          <a:p>
            <a:r>
              <a:rPr lang="en-US" altLang="ko-KR" dirty="0"/>
              <a:t>GitHub link : 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2068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BF234A-6F2C-B2D6-D699-64F3BF9E2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주제 및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18D285-C822-DFEB-558E-EDAD88436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953" y="2318873"/>
            <a:ext cx="10515600" cy="120258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dirty="0"/>
              <a:t>Classic Control </a:t>
            </a:r>
            <a:r>
              <a:rPr lang="ko-KR" altLang="en-US" dirty="0"/>
              <a:t>환경</a:t>
            </a:r>
            <a:r>
              <a:rPr lang="en-US" altLang="ko-KR" dirty="0"/>
              <a:t>(CartPole-v1)</a:t>
            </a:r>
            <a:r>
              <a:rPr lang="ko-KR" altLang="en-US" dirty="0"/>
              <a:t>에서</a:t>
            </a:r>
            <a:r>
              <a:rPr lang="en-US" altLang="ko-KR" dirty="0"/>
              <a:t> </a:t>
            </a:r>
            <a:r>
              <a:rPr lang="ko-KR" altLang="en-US" dirty="0"/>
              <a:t>기본 </a:t>
            </a:r>
            <a:r>
              <a:rPr lang="en-US" altLang="ko-KR" dirty="0"/>
              <a:t>reinforce(</a:t>
            </a:r>
            <a:r>
              <a:rPr lang="ko-KR" altLang="en-US" dirty="0"/>
              <a:t>정책 경사 기본 알고리즘</a:t>
            </a:r>
            <a:r>
              <a:rPr lang="en-US" altLang="ko-KR" dirty="0"/>
              <a:t>)</a:t>
            </a:r>
            <a:r>
              <a:rPr lang="ko-KR" altLang="en-US" dirty="0"/>
              <a:t>와 </a:t>
            </a:r>
            <a:r>
              <a:rPr lang="en-US" altLang="ko-KR" dirty="0"/>
              <a:t>PPO-Clip(</a:t>
            </a:r>
            <a:r>
              <a:rPr lang="ko-KR" altLang="en-US" dirty="0"/>
              <a:t>안정화 정책 경사</a:t>
            </a:r>
            <a:r>
              <a:rPr lang="en-US" altLang="ko-KR" dirty="0"/>
              <a:t>)</a:t>
            </a:r>
            <a:r>
              <a:rPr lang="ko-KR" altLang="en-US" dirty="0"/>
              <a:t>의 성능 차이를 검증</a:t>
            </a:r>
            <a:endParaRPr lang="en-US" altLang="ko-KR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0A8E4F3-6A95-E535-46CD-2763D7AA7D47}"/>
              </a:ext>
            </a:extLst>
          </p:cNvPr>
          <p:cNvSpPr txBox="1">
            <a:spLocks/>
          </p:cNvSpPr>
          <p:nvPr/>
        </p:nvSpPr>
        <p:spPr>
          <a:xfrm>
            <a:off x="838200" y="1779330"/>
            <a:ext cx="1218211" cy="539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/>
              <a:t>주제</a:t>
            </a:r>
            <a:endParaRPr lang="en-US" altLang="ko-KR" b="1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DDD057F-2091-A701-C4CB-D256B12C47FF}"/>
              </a:ext>
            </a:extLst>
          </p:cNvPr>
          <p:cNvSpPr txBox="1">
            <a:spLocks/>
          </p:cNvSpPr>
          <p:nvPr/>
        </p:nvSpPr>
        <p:spPr>
          <a:xfrm>
            <a:off x="956953" y="3879869"/>
            <a:ext cx="1218211" cy="539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/>
              <a:t>목표</a:t>
            </a:r>
            <a:endParaRPr lang="en-US" altLang="ko-KR" b="1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83DD3DD-D817-BF62-0871-0F731A576CD5}"/>
              </a:ext>
            </a:extLst>
          </p:cNvPr>
          <p:cNvSpPr txBox="1">
            <a:spLocks/>
          </p:cNvSpPr>
          <p:nvPr/>
        </p:nvSpPr>
        <p:spPr>
          <a:xfrm>
            <a:off x="956953" y="4680083"/>
            <a:ext cx="10515600" cy="12025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-CartPole-v1</a:t>
            </a:r>
            <a:r>
              <a:rPr lang="ko-KR" altLang="en-US" dirty="0"/>
              <a:t>에서의 </a:t>
            </a:r>
            <a:r>
              <a:rPr lang="en-US" altLang="ko-KR" dirty="0" err="1"/>
              <a:t>reinforcemen</a:t>
            </a:r>
            <a:r>
              <a:rPr lang="ko-KR" altLang="en-US" dirty="0"/>
              <a:t>와 </a:t>
            </a:r>
            <a:r>
              <a:rPr lang="en-US" altLang="ko-KR" dirty="0"/>
              <a:t>PPO</a:t>
            </a:r>
            <a:r>
              <a:rPr lang="ko-KR" altLang="en-US" dirty="0"/>
              <a:t>의 성능 비교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-clip epsilon  </a:t>
            </a:r>
            <a:r>
              <a:rPr lang="ko-KR" altLang="en-US" dirty="0"/>
              <a:t>변경 후 안정성 및 성능 변화 분석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66233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A3355B-9123-0251-5838-DA509459D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환경 및 데이터 </a:t>
            </a:r>
            <a:r>
              <a:rPr lang="en-US" altLang="ko-KR" dirty="0"/>
              <a:t>processing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7328E2A3-0626-D14B-511E-85CD86DCA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7769"/>
            <a:ext cx="10515600" cy="19059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-CartPole-v1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카트를 조종하여 막대기가 넘어지지 않도록 하는 실험 환경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카트를 움직이는 환경과의 상호작용에서 생긴 </a:t>
            </a:r>
            <a:r>
              <a:rPr lang="en-US" altLang="ko-KR" dirty="0"/>
              <a:t>trajectory</a:t>
            </a:r>
            <a:r>
              <a:rPr lang="ko-KR" altLang="en-US" dirty="0"/>
              <a:t>를 생성하여 제공하는 </a:t>
            </a:r>
            <a:r>
              <a:rPr lang="ko-KR" altLang="en-US" dirty="0" err="1"/>
              <a:t>연속값</a:t>
            </a:r>
            <a:r>
              <a:rPr lang="ko-KR" altLang="en-US" dirty="0"/>
              <a:t> 벡터 그대로 사용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BD78853-7E74-DB44-0BCD-368D3E569E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67" t="9801" r="31326" b="9931"/>
          <a:stretch>
            <a:fillRect/>
          </a:stretch>
        </p:blipFill>
        <p:spPr>
          <a:xfrm>
            <a:off x="3379717" y="4150814"/>
            <a:ext cx="5752407" cy="219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340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820D5-DB34-9F84-D6F3-AAFA9D22A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State &amp; Action &amp; Reward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BC021FA2-B9BC-45B8-678D-4544A5B42120}"/>
              </a:ext>
            </a:extLst>
          </p:cNvPr>
          <p:cNvSpPr txBox="1">
            <a:spLocks/>
          </p:cNvSpPr>
          <p:nvPr/>
        </p:nvSpPr>
        <p:spPr>
          <a:xfrm>
            <a:off x="1337954" y="2325594"/>
            <a:ext cx="1218211" cy="539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/>
              <a:t>State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7353DD2-B948-388E-145B-F51313AB47A0}"/>
              </a:ext>
            </a:extLst>
          </p:cNvPr>
          <p:cNvSpPr txBox="1">
            <a:spLocks/>
          </p:cNvSpPr>
          <p:nvPr/>
        </p:nvSpPr>
        <p:spPr>
          <a:xfrm>
            <a:off x="5101935" y="2347375"/>
            <a:ext cx="1516579" cy="539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/>
              <a:t>Action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2AF3272-57F8-FBCA-8431-1F1041D55082}"/>
              </a:ext>
            </a:extLst>
          </p:cNvPr>
          <p:cNvSpPr txBox="1">
            <a:spLocks/>
          </p:cNvSpPr>
          <p:nvPr/>
        </p:nvSpPr>
        <p:spPr>
          <a:xfrm>
            <a:off x="9164284" y="2347374"/>
            <a:ext cx="1516579" cy="539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/>
              <a:t>Reward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794040B-282A-503A-1C9C-9BB80915AADB}"/>
              </a:ext>
            </a:extLst>
          </p:cNvPr>
          <p:cNvSpPr txBox="1">
            <a:spLocks/>
          </p:cNvSpPr>
          <p:nvPr/>
        </p:nvSpPr>
        <p:spPr>
          <a:xfrm>
            <a:off x="697307" y="3163593"/>
            <a:ext cx="2296885" cy="2746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dirty="0"/>
              <a:t>-</a:t>
            </a:r>
            <a:r>
              <a:rPr lang="ko-KR" altLang="en-US" dirty="0"/>
              <a:t>카트 위치</a:t>
            </a: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dirty="0"/>
              <a:t>-</a:t>
            </a:r>
            <a:r>
              <a:rPr lang="ko-KR" altLang="en-US" dirty="0"/>
              <a:t>카트 속도</a:t>
            </a: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dirty="0"/>
              <a:t>-Pole </a:t>
            </a:r>
            <a:r>
              <a:rPr lang="ko-KR" altLang="en-US" dirty="0"/>
              <a:t>각도</a:t>
            </a: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dirty="0"/>
              <a:t>-Pole </a:t>
            </a:r>
            <a:r>
              <a:rPr lang="ko-KR" altLang="en-US" dirty="0"/>
              <a:t>각속도</a:t>
            </a:r>
            <a:endParaRPr lang="en-US" altLang="ko-KR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2333B99-D641-62D7-5250-0EF19C9683CF}"/>
              </a:ext>
            </a:extLst>
          </p:cNvPr>
          <p:cNvSpPr txBox="1">
            <a:spLocks/>
          </p:cNvSpPr>
          <p:nvPr/>
        </p:nvSpPr>
        <p:spPr>
          <a:xfrm>
            <a:off x="4080288" y="3163593"/>
            <a:ext cx="3559872" cy="2746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dirty="0"/>
              <a:t>-</a:t>
            </a:r>
            <a:r>
              <a:rPr lang="ko-KR" altLang="en-US" dirty="0"/>
              <a:t>카트 왼쪽 밀기</a:t>
            </a: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dirty="0"/>
              <a:t>-</a:t>
            </a:r>
            <a:r>
              <a:rPr lang="ko-KR" altLang="en-US" dirty="0"/>
              <a:t>카트 오른쪽 밀기</a:t>
            </a:r>
            <a:endParaRPr lang="en-US" altLang="ko-KR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807F1737-7F65-5764-5EAF-8ADB1BDEC9BE}"/>
              </a:ext>
            </a:extLst>
          </p:cNvPr>
          <p:cNvSpPr txBox="1">
            <a:spLocks/>
          </p:cNvSpPr>
          <p:nvPr/>
        </p:nvSpPr>
        <p:spPr>
          <a:xfrm>
            <a:off x="8271653" y="3163593"/>
            <a:ext cx="3301840" cy="2746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dirty="0" err="1"/>
              <a:t>Timstep</a:t>
            </a:r>
            <a:r>
              <a:rPr lang="ko-KR" altLang="en-US" dirty="0"/>
              <a:t>이 지날 수록 생존 </a:t>
            </a:r>
            <a:r>
              <a:rPr lang="en-US" altLang="ko-KR" dirty="0"/>
              <a:t>reward +1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최종 </a:t>
            </a:r>
            <a:r>
              <a:rPr lang="en-US" altLang="ko-KR" dirty="0"/>
              <a:t>Episode </a:t>
            </a:r>
            <a:r>
              <a:rPr lang="en-US" altLang="ko-KR" dirty="0" err="1"/>
              <a:t>reutrun</a:t>
            </a:r>
            <a:r>
              <a:rPr lang="en-US" altLang="ko-KR" dirty="0"/>
              <a:t> : </a:t>
            </a:r>
            <a:r>
              <a:rPr lang="ko-KR" altLang="en-US" dirty="0"/>
              <a:t>버틴 시간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28114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9ABD5-DCE2-6C56-F23D-3B272E354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3C3A1-BD69-BC11-FCFF-FF3A53D8D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알고리즘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 dirty="0"/>
              <a:t>Hyperparameter : Baseline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30B84AC-CCD8-2D06-B0C9-1ADE3296E570}"/>
              </a:ext>
            </a:extLst>
          </p:cNvPr>
          <p:cNvSpPr txBox="1">
            <a:spLocks/>
          </p:cNvSpPr>
          <p:nvPr/>
        </p:nvSpPr>
        <p:spPr>
          <a:xfrm>
            <a:off x="838200" y="1898083"/>
            <a:ext cx="6369132" cy="539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/>
              <a:t>Reinforce(Baseline)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55C8D0CD-E933-5FC2-1AF4-6D53EBB2BF7F}"/>
              </a:ext>
            </a:extLst>
          </p:cNvPr>
          <p:cNvSpPr txBox="1">
            <a:spLocks/>
          </p:cNvSpPr>
          <p:nvPr/>
        </p:nvSpPr>
        <p:spPr>
          <a:xfrm>
            <a:off x="838200" y="2503697"/>
            <a:ext cx="10387940" cy="11966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-</a:t>
            </a:r>
            <a:r>
              <a:rPr lang="ko-KR" altLang="en-US" dirty="0" err="1"/>
              <a:t>몬테</a:t>
            </a:r>
            <a:r>
              <a:rPr lang="ko-KR" altLang="en-US" dirty="0"/>
              <a:t> 카를로 </a:t>
            </a:r>
            <a:r>
              <a:rPr lang="en-US" altLang="ko-KR" dirty="0"/>
              <a:t>Policy</a:t>
            </a:r>
            <a:r>
              <a:rPr lang="ko-KR" altLang="en-US" dirty="0"/>
              <a:t> 채용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-Episode </a:t>
            </a:r>
            <a:r>
              <a:rPr lang="ko-KR" altLang="en-US" dirty="0"/>
              <a:t>종료 후 </a:t>
            </a:r>
            <a:r>
              <a:rPr lang="en-US" altLang="ko-KR" dirty="0"/>
              <a:t>log</a:t>
            </a:r>
            <a:r>
              <a:rPr lang="el-GR" altLang="ko-KR" dirty="0"/>
              <a:t>π(</a:t>
            </a:r>
            <a:r>
              <a:rPr lang="en-US" altLang="ko-KR" dirty="0" err="1"/>
              <a:t>a∣s</a:t>
            </a:r>
            <a:r>
              <a:rPr lang="en-US" altLang="ko-KR" dirty="0"/>
              <a:t>)</a:t>
            </a:r>
            <a:r>
              <a:rPr lang="ko-KR" altLang="en-US" dirty="0"/>
              <a:t> 및 </a:t>
            </a:r>
            <a:r>
              <a:rPr lang="en-US" altLang="ko-KR" dirty="0" err="1"/>
              <a:t>retur</a:t>
            </a:r>
            <a:r>
              <a:rPr lang="ko-KR" altLang="en-US" dirty="0"/>
              <a:t>으로 </a:t>
            </a:r>
            <a:r>
              <a:rPr lang="en-US" altLang="ko-KR" dirty="0"/>
              <a:t>policy update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809DF-7F31-AAB9-2FAF-A0774FBDA094}"/>
              </a:ext>
            </a:extLst>
          </p:cNvPr>
          <p:cNvSpPr txBox="1">
            <a:spLocks/>
          </p:cNvSpPr>
          <p:nvPr/>
        </p:nvSpPr>
        <p:spPr>
          <a:xfrm>
            <a:off x="838200" y="4243580"/>
            <a:ext cx="6369132" cy="539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/>
              <a:t>Hyperparameter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CD0272C4-7643-D3D3-FCC0-D8AB300FEAA9}"/>
              </a:ext>
            </a:extLst>
          </p:cNvPr>
          <p:cNvSpPr txBox="1">
            <a:spLocks/>
          </p:cNvSpPr>
          <p:nvPr/>
        </p:nvSpPr>
        <p:spPr>
          <a:xfrm>
            <a:off x="838200" y="4886488"/>
            <a:ext cx="10387940" cy="1511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gamma : 0.99		</a:t>
            </a:r>
            <a:r>
              <a:rPr lang="en-US" altLang="ko-KR" dirty="0" err="1"/>
              <a:t>Ir</a:t>
            </a:r>
            <a:r>
              <a:rPr lang="en-US" altLang="ko-KR" dirty="0"/>
              <a:t> : 1e-3		Hidden : 128 layer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 err="1"/>
              <a:t>Total_episode</a:t>
            </a:r>
            <a:r>
              <a:rPr lang="en-US" altLang="ko-KR" dirty="0"/>
              <a:t> : 600</a:t>
            </a:r>
          </a:p>
        </p:txBody>
      </p:sp>
    </p:spTree>
    <p:extLst>
      <p:ext uri="{BB962C8B-B14F-4D97-AF65-F5344CB8AC3E}">
        <p14:creationId xmlns:p14="http://schemas.microsoft.com/office/powerpoint/2010/main" val="2704939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AE7E5-4E45-280B-A89D-93ADFBE8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A1318-B0A1-43F7-E354-75FEC17E9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알고리즘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 dirty="0"/>
              <a:t>Hyperparameter : Main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64C4DFA-982C-B126-8A3C-7AE2614841FC}"/>
              </a:ext>
            </a:extLst>
          </p:cNvPr>
          <p:cNvSpPr txBox="1">
            <a:spLocks/>
          </p:cNvSpPr>
          <p:nvPr/>
        </p:nvSpPr>
        <p:spPr>
          <a:xfrm>
            <a:off x="838200" y="1898083"/>
            <a:ext cx="6369132" cy="539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/>
              <a:t>PPO-Clip(Main)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7C104E71-AFF8-7C4A-CB9C-C2AB9D0DABE0}"/>
              </a:ext>
            </a:extLst>
          </p:cNvPr>
          <p:cNvSpPr txBox="1">
            <a:spLocks/>
          </p:cNvSpPr>
          <p:nvPr/>
        </p:nvSpPr>
        <p:spPr>
          <a:xfrm>
            <a:off x="838200" y="2503697"/>
            <a:ext cx="10387940" cy="11966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-GAE </a:t>
            </a:r>
            <a:r>
              <a:rPr lang="ko-KR" altLang="en-US" dirty="0"/>
              <a:t>기반 </a:t>
            </a:r>
            <a:r>
              <a:rPr lang="en-US" altLang="ko-KR" dirty="0"/>
              <a:t>advantage </a:t>
            </a:r>
            <a:r>
              <a:rPr lang="ko-KR" altLang="en-US" dirty="0"/>
              <a:t>이용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-Policy</a:t>
            </a:r>
            <a:r>
              <a:rPr lang="ko-KR" altLang="en-US" dirty="0"/>
              <a:t>의 변화를 </a:t>
            </a:r>
            <a:r>
              <a:rPr lang="en-US" altLang="ko-KR" dirty="0"/>
              <a:t>clipping</a:t>
            </a:r>
            <a:r>
              <a:rPr lang="ko-KR" altLang="en-US" dirty="0"/>
              <a:t>으로 제한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C56DBC-BAF0-137A-E1A5-EB63B11ECF0D}"/>
              </a:ext>
            </a:extLst>
          </p:cNvPr>
          <p:cNvSpPr txBox="1">
            <a:spLocks/>
          </p:cNvSpPr>
          <p:nvPr/>
        </p:nvSpPr>
        <p:spPr>
          <a:xfrm>
            <a:off x="838200" y="3973809"/>
            <a:ext cx="6369132" cy="539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/>
              <a:t>Hyperparameter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7E8F8D8D-8D97-C05B-06BB-F141B2F1A8A7}"/>
              </a:ext>
            </a:extLst>
          </p:cNvPr>
          <p:cNvSpPr txBox="1">
            <a:spLocks/>
          </p:cNvSpPr>
          <p:nvPr/>
        </p:nvSpPr>
        <p:spPr>
          <a:xfrm>
            <a:off x="838199" y="4616716"/>
            <a:ext cx="10787743" cy="2241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Total step : 100,000	</a:t>
            </a:r>
            <a:r>
              <a:rPr lang="en-US" altLang="ko-KR" dirty="0" err="1"/>
              <a:t>rollout_len</a:t>
            </a:r>
            <a:r>
              <a:rPr lang="en-US" altLang="ko-KR" dirty="0"/>
              <a:t> : 1024	</a:t>
            </a:r>
            <a:r>
              <a:rPr lang="en-US" altLang="ko-KR" dirty="0" err="1"/>
              <a:t>update_epochs</a:t>
            </a:r>
            <a:r>
              <a:rPr lang="en-US" altLang="ko-KR" dirty="0"/>
              <a:t> : 5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Minibatch : 5		gamma = 0.99		</a:t>
            </a:r>
            <a:r>
              <a:rPr lang="en-US" altLang="ko-KR" dirty="0" err="1"/>
              <a:t>gae_lambda</a:t>
            </a:r>
            <a:r>
              <a:rPr lang="en-US" altLang="ko-KR" dirty="0"/>
              <a:t> = 0.95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 err="1"/>
              <a:t>lr</a:t>
            </a:r>
            <a:r>
              <a:rPr lang="en-US" altLang="ko-KR" dirty="0"/>
              <a:t> : 3e-4			</a:t>
            </a:r>
            <a:r>
              <a:rPr lang="en-US" altLang="ko-KR" dirty="0" err="1"/>
              <a:t>vf_coef</a:t>
            </a:r>
            <a:r>
              <a:rPr lang="en-US" altLang="ko-KR" dirty="0"/>
              <a:t> : 0.5		</a:t>
            </a:r>
            <a:r>
              <a:rPr lang="en-US" altLang="ko-KR" dirty="0" err="1"/>
              <a:t>ent_coef</a:t>
            </a:r>
            <a:r>
              <a:rPr lang="en-US" altLang="ko-KR" dirty="0"/>
              <a:t> = 0.0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 err="1"/>
              <a:t>Clip_eps</a:t>
            </a:r>
            <a:r>
              <a:rPr lang="en-US" altLang="ko-KR" dirty="0"/>
              <a:t> : 0.1 &amp; 0.2 try</a:t>
            </a:r>
          </a:p>
        </p:txBody>
      </p:sp>
    </p:spTree>
    <p:extLst>
      <p:ext uri="{BB962C8B-B14F-4D97-AF65-F5344CB8AC3E}">
        <p14:creationId xmlns:p14="http://schemas.microsoft.com/office/powerpoint/2010/main" val="3319067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ED561-DFFB-BA28-57FB-BDAF5B970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61EDD-CFB3-C7EB-91CB-209E28C53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환경 및 </a:t>
            </a:r>
            <a:r>
              <a:rPr lang="en-US" altLang="ko-KR" dirty="0"/>
              <a:t>Setup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1F43713-0F31-33E3-7181-3BB38822FA38}"/>
              </a:ext>
            </a:extLst>
          </p:cNvPr>
          <p:cNvSpPr txBox="1">
            <a:spLocks/>
          </p:cNvSpPr>
          <p:nvPr/>
        </p:nvSpPr>
        <p:spPr>
          <a:xfrm>
            <a:off x="838201" y="1690688"/>
            <a:ext cx="6369132" cy="539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/>
              <a:t>실험환경</a:t>
            </a:r>
            <a:endParaRPr lang="en-US" altLang="ko-KR" b="1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561E967C-4D77-9DC0-5108-68807278B2C5}"/>
              </a:ext>
            </a:extLst>
          </p:cNvPr>
          <p:cNvSpPr txBox="1">
            <a:spLocks/>
          </p:cNvSpPr>
          <p:nvPr/>
        </p:nvSpPr>
        <p:spPr>
          <a:xfrm>
            <a:off x="838200" y="2386504"/>
            <a:ext cx="10387940" cy="1259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-CartPole-v1 </a:t>
            </a:r>
            <a:r>
              <a:rPr lang="ko-KR" altLang="en-US" dirty="0"/>
              <a:t>및 </a:t>
            </a:r>
            <a:r>
              <a:rPr lang="en-US" altLang="ko-KR" dirty="0"/>
              <a:t>RTX 4070 </a:t>
            </a:r>
            <a:r>
              <a:rPr lang="ko-KR" altLang="en-US" dirty="0"/>
              <a:t>이용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-seed 3</a:t>
            </a:r>
            <a:r>
              <a:rPr lang="ko-KR" altLang="en-US" dirty="0"/>
              <a:t>개</a:t>
            </a:r>
            <a:r>
              <a:rPr lang="en-US" altLang="ko-KR" dirty="0"/>
              <a:t>(0,1,2)</a:t>
            </a:r>
            <a:r>
              <a:rPr lang="ko-KR" altLang="en-US" dirty="0"/>
              <a:t>를 반복 후 평균과 표준편차 구함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82CD61-D2E1-D910-B337-85F6591C1826}"/>
              </a:ext>
            </a:extLst>
          </p:cNvPr>
          <p:cNvSpPr txBox="1">
            <a:spLocks/>
          </p:cNvSpPr>
          <p:nvPr/>
        </p:nvSpPr>
        <p:spPr>
          <a:xfrm>
            <a:off x="838201" y="4088227"/>
            <a:ext cx="6369132" cy="539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/>
              <a:t>평가 지표</a:t>
            </a:r>
            <a:endParaRPr lang="en-US" altLang="ko-KR" b="1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A9F20573-D519-B42E-C1DB-D40F852CCB84}"/>
              </a:ext>
            </a:extLst>
          </p:cNvPr>
          <p:cNvSpPr txBox="1">
            <a:spLocks/>
          </p:cNvSpPr>
          <p:nvPr/>
        </p:nvSpPr>
        <p:spPr>
          <a:xfrm>
            <a:off x="838200" y="4768304"/>
            <a:ext cx="10787743" cy="1053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-Baseline : </a:t>
            </a:r>
            <a:r>
              <a:rPr lang="ko-KR" altLang="en-US" dirty="0"/>
              <a:t>마지막 </a:t>
            </a:r>
            <a:r>
              <a:rPr lang="en-US" altLang="ko-KR" dirty="0"/>
              <a:t>100 episode</a:t>
            </a:r>
            <a:r>
              <a:rPr lang="ko-KR" altLang="en-US" dirty="0"/>
              <a:t>의 평균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-Main : 50 episode</a:t>
            </a:r>
            <a:r>
              <a:rPr lang="ko-KR" altLang="en-US" dirty="0"/>
              <a:t>의 평균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38918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FF3C1-A39C-7E7A-926F-C8E8F55ED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2A2CB8-7CC5-C906-257A-043577A30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결과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0051B2C-70C3-CA9E-1E7E-1E6BA8CD9EA2}"/>
              </a:ext>
            </a:extLst>
          </p:cNvPr>
          <p:cNvSpPr txBox="1">
            <a:spLocks/>
          </p:cNvSpPr>
          <p:nvPr/>
        </p:nvSpPr>
        <p:spPr>
          <a:xfrm>
            <a:off x="2364675" y="4897540"/>
            <a:ext cx="7681850" cy="539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/>
              <a:t>&lt; </a:t>
            </a:r>
            <a:r>
              <a:rPr lang="ko-KR" altLang="en-US" sz="2400" dirty="0"/>
              <a:t>각 </a:t>
            </a:r>
            <a:r>
              <a:rPr lang="en-US" altLang="ko-KR" sz="2400" dirty="0"/>
              <a:t>try</a:t>
            </a:r>
            <a:r>
              <a:rPr lang="ko-KR" altLang="en-US" sz="2400" dirty="0"/>
              <a:t>의 </a:t>
            </a:r>
            <a:r>
              <a:rPr lang="en-US" altLang="ko-KR" sz="2400" dirty="0"/>
              <a:t>seed</a:t>
            </a:r>
            <a:r>
              <a:rPr lang="ko-KR" altLang="en-US" sz="2400" dirty="0"/>
              <a:t>별 </a:t>
            </a:r>
            <a:r>
              <a:rPr lang="en-US" altLang="ko-KR" sz="2400" dirty="0"/>
              <a:t>return </a:t>
            </a:r>
            <a:r>
              <a:rPr lang="ko-KR" altLang="en-US" sz="2400" dirty="0"/>
              <a:t>점수 및 평균과 표준편차 </a:t>
            </a:r>
            <a:r>
              <a:rPr lang="en-US" altLang="ko-KR" sz="2400" dirty="0"/>
              <a:t>&gt;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842C2A1-3307-A2A2-EC35-7AFBD3FD34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023857"/>
              </p:ext>
            </p:extLst>
          </p:nvPr>
        </p:nvGraphicFramePr>
        <p:xfrm>
          <a:off x="838200" y="2392680"/>
          <a:ext cx="10402452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9368">
                  <a:extLst>
                    <a:ext uri="{9D8B030D-6E8A-4147-A177-3AD203B41FA5}">
                      <a16:colId xmlns:a16="http://schemas.microsoft.com/office/drawing/2014/main" val="4089940565"/>
                    </a:ext>
                  </a:extLst>
                </a:gridCol>
                <a:gridCol w="1543792">
                  <a:extLst>
                    <a:ext uri="{9D8B030D-6E8A-4147-A177-3AD203B41FA5}">
                      <a16:colId xmlns:a16="http://schemas.microsoft.com/office/drawing/2014/main" val="2632474373"/>
                    </a:ext>
                  </a:extLst>
                </a:gridCol>
                <a:gridCol w="1591293">
                  <a:extLst>
                    <a:ext uri="{9D8B030D-6E8A-4147-A177-3AD203B41FA5}">
                      <a16:colId xmlns:a16="http://schemas.microsoft.com/office/drawing/2014/main" val="63197521"/>
                    </a:ext>
                  </a:extLst>
                </a:gridCol>
                <a:gridCol w="1580515">
                  <a:extLst>
                    <a:ext uri="{9D8B030D-6E8A-4147-A177-3AD203B41FA5}">
                      <a16:colId xmlns:a16="http://schemas.microsoft.com/office/drawing/2014/main" val="2371327916"/>
                    </a:ext>
                  </a:extLst>
                </a:gridCol>
                <a:gridCol w="1733742">
                  <a:extLst>
                    <a:ext uri="{9D8B030D-6E8A-4147-A177-3AD203B41FA5}">
                      <a16:colId xmlns:a16="http://schemas.microsoft.com/office/drawing/2014/main" val="1515728092"/>
                    </a:ext>
                  </a:extLst>
                </a:gridCol>
                <a:gridCol w="1733742">
                  <a:extLst>
                    <a:ext uri="{9D8B030D-6E8A-4147-A177-3AD203B41FA5}">
                      <a16:colId xmlns:a16="http://schemas.microsoft.com/office/drawing/2014/main" val="18333927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Seed 0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Seed 1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Seed 2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/>
                        <a:t>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/>
                        <a:t>표준편차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488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Reinforce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/>
                        <a:t>33.10</a:t>
                      </a:r>
                      <a:endParaRPr lang="en-US" altLang="ko-KR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33.64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39.65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35.46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2.97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766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/>
                        <a:t>PPO_0.1clip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297.98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/>
                        <a:t>290.26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364.22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317.49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40.66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170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/>
                        <a:t>PPO_0.2clip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/>
                        <a:t>212.20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282.08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292.54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262.27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43.68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358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3422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042AE-12F9-66F9-9069-6B2AC4E3F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86E30C-8398-59FE-57EA-A780E2E39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결과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67038DC-626A-EDDB-DA36-4211C02816DD}"/>
              </a:ext>
            </a:extLst>
          </p:cNvPr>
          <p:cNvSpPr txBox="1">
            <a:spLocks/>
          </p:cNvSpPr>
          <p:nvPr/>
        </p:nvSpPr>
        <p:spPr>
          <a:xfrm>
            <a:off x="3090059" y="6223103"/>
            <a:ext cx="6483431" cy="539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/>
              <a:t>&lt;episode </a:t>
            </a:r>
            <a:r>
              <a:rPr lang="ko-KR" altLang="en-US" sz="2400" dirty="0"/>
              <a:t>진행에 따른 각 </a:t>
            </a:r>
            <a:r>
              <a:rPr lang="en-US" altLang="ko-KR" sz="2400" dirty="0"/>
              <a:t>try</a:t>
            </a:r>
            <a:r>
              <a:rPr lang="ko-KR" altLang="en-US" sz="2400" dirty="0"/>
              <a:t>별 </a:t>
            </a:r>
            <a:r>
              <a:rPr lang="ko-KR" altLang="en-US" sz="2400" dirty="0" err="1"/>
              <a:t>학습률</a:t>
            </a:r>
            <a:r>
              <a:rPr lang="ko-KR" altLang="en-US" sz="2400" dirty="0"/>
              <a:t> 곡선</a:t>
            </a:r>
            <a:r>
              <a:rPr lang="en-US" altLang="ko-KR" sz="2400" dirty="0"/>
              <a:t>&gt;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850B67-9D6E-2423-BABF-7E065AC28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383" y="1505195"/>
            <a:ext cx="6169233" cy="462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732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10DFD-8759-9051-E696-F9180ABFD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9541B-ABB6-6DAB-C6D2-181523278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토의 및 결론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C4D1CE35-1760-3998-D96F-BFBCAE79880C}"/>
              </a:ext>
            </a:extLst>
          </p:cNvPr>
          <p:cNvSpPr txBox="1">
            <a:spLocks/>
          </p:cNvSpPr>
          <p:nvPr/>
        </p:nvSpPr>
        <p:spPr>
          <a:xfrm>
            <a:off x="838201" y="1690688"/>
            <a:ext cx="6369132" cy="539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/>
              <a:t>Reinforce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200B2EDF-EBC6-359D-CC19-6993A7FE3590}"/>
              </a:ext>
            </a:extLst>
          </p:cNvPr>
          <p:cNvSpPr txBox="1">
            <a:spLocks/>
          </p:cNvSpPr>
          <p:nvPr/>
        </p:nvSpPr>
        <p:spPr>
          <a:xfrm>
            <a:off x="838200" y="2169508"/>
            <a:ext cx="10387940" cy="719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단순한 구조이나 </a:t>
            </a:r>
            <a:r>
              <a:rPr lang="ko-KR" altLang="en-US" dirty="0" err="1"/>
              <a:t>고분산되어</a:t>
            </a:r>
            <a:r>
              <a:rPr lang="ko-KR" altLang="en-US" dirty="0"/>
              <a:t> 안정적인 성능 확보 어려움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D7670B4-046F-558C-0DAC-2A420699A899}"/>
              </a:ext>
            </a:extLst>
          </p:cNvPr>
          <p:cNvSpPr txBox="1">
            <a:spLocks/>
          </p:cNvSpPr>
          <p:nvPr/>
        </p:nvSpPr>
        <p:spPr>
          <a:xfrm>
            <a:off x="861457" y="2945975"/>
            <a:ext cx="6369132" cy="539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/>
              <a:t>PPO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28F052A-6554-8DDF-FA5D-3FA7D71FC73F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387940" cy="1095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GAE + value </a:t>
            </a:r>
            <a:r>
              <a:rPr lang="ko-KR" altLang="en-US" dirty="0"/>
              <a:t>학습과 </a:t>
            </a:r>
            <a:r>
              <a:rPr lang="en-US" altLang="ko-KR"/>
              <a:t>clipping</a:t>
            </a:r>
            <a:r>
              <a:rPr lang="ko-KR" altLang="en-US" dirty="0"/>
              <a:t>을 이용하여 </a:t>
            </a:r>
            <a:r>
              <a:rPr lang="en-US" altLang="ko-KR" dirty="0"/>
              <a:t>policy update </a:t>
            </a:r>
            <a:r>
              <a:rPr lang="ko-KR" altLang="en-US" dirty="0"/>
              <a:t>안정화를 통해 </a:t>
            </a:r>
            <a:r>
              <a:rPr lang="ko-KR" altLang="en-US" dirty="0" err="1"/>
              <a:t>학습률과</a:t>
            </a:r>
            <a:r>
              <a:rPr lang="ko-KR" altLang="en-US" dirty="0"/>
              <a:t> 성능을 확보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727BFE9-39DE-BBD3-4D93-13B162F46E1B}"/>
              </a:ext>
            </a:extLst>
          </p:cNvPr>
          <p:cNvSpPr txBox="1">
            <a:spLocks/>
          </p:cNvSpPr>
          <p:nvPr/>
        </p:nvSpPr>
        <p:spPr>
          <a:xfrm>
            <a:off x="861457" y="4897540"/>
            <a:ext cx="955468" cy="539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/>
              <a:t>결론</a:t>
            </a:r>
            <a:endParaRPr lang="en-US" altLang="ko-KR" b="1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0A3A5D5D-D30A-BB10-FAAF-5DE3DB4284F1}"/>
              </a:ext>
            </a:extLst>
          </p:cNvPr>
          <p:cNvSpPr txBox="1">
            <a:spLocks/>
          </p:cNvSpPr>
          <p:nvPr/>
        </p:nvSpPr>
        <p:spPr>
          <a:xfrm>
            <a:off x="861457" y="5437083"/>
            <a:ext cx="10387940" cy="1095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PPO</a:t>
            </a:r>
            <a:r>
              <a:rPr lang="ko-KR" altLang="en-US" dirty="0"/>
              <a:t> 알고리즘을 통한 학습이 유의미한 성능적 우세를 보이며</a:t>
            </a:r>
            <a:r>
              <a:rPr lang="en-US" altLang="ko-KR" dirty="0"/>
              <a:t>, </a:t>
            </a:r>
            <a:r>
              <a:rPr lang="ko-KR" altLang="en-US" dirty="0"/>
              <a:t>본 실험에서는 </a:t>
            </a:r>
            <a:r>
              <a:rPr lang="en-US" altLang="ko-KR" dirty="0"/>
              <a:t>clip</a:t>
            </a:r>
            <a:r>
              <a:rPr lang="ko-KR" altLang="en-US" dirty="0"/>
              <a:t>이 </a:t>
            </a:r>
            <a:r>
              <a:rPr lang="en-US" altLang="ko-KR" dirty="0"/>
              <a:t>0.1</a:t>
            </a:r>
            <a:r>
              <a:rPr lang="ko-KR" altLang="en-US" dirty="0"/>
              <a:t>일 때 유리한 성능을 보임을 확인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11690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E42E7-F41F-F8F4-6389-4A756B366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735B05-93D4-331D-8534-4D1A16708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개선점 및 추가 실험 방향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04D83044-1AB7-8CAA-D816-FCAFE5E35D91}"/>
              </a:ext>
            </a:extLst>
          </p:cNvPr>
          <p:cNvSpPr txBox="1">
            <a:spLocks/>
          </p:cNvSpPr>
          <p:nvPr/>
        </p:nvSpPr>
        <p:spPr>
          <a:xfrm>
            <a:off x="861458" y="2136661"/>
            <a:ext cx="6369132" cy="539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/>
              <a:t>Seed </a:t>
            </a:r>
            <a:r>
              <a:rPr lang="ko-KR" altLang="en-US" b="1" dirty="0"/>
              <a:t>수 늘리기</a:t>
            </a:r>
            <a:endParaRPr lang="en-US" altLang="ko-KR" b="1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C730371-3523-6948-7C4E-21250FE2EE28}"/>
              </a:ext>
            </a:extLst>
          </p:cNvPr>
          <p:cNvSpPr txBox="1">
            <a:spLocks/>
          </p:cNvSpPr>
          <p:nvPr/>
        </p:nvSpPr>
        <p:spPr>
          <a:xfrm>
            <a:off x="861457" y="2615481"/>
            <a:ext cx="10387940" cy="719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Seed</a:t>
            </a:r>
            <a:r>
              <a:rPr lang="ko-KR" altLang="en-US" dirty="0"/>
              <a:t>수를 늘려 신뢰 구간을 국소화 해 높은 신뢰성 확보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792E2C2B-56CC-E971-F2DC-084DBE0E7CF1}"/>
              </a:ext>
            </a:extLst>
          </p:cNvPr>
          <p:cNvSpPr txBox="1">
            <a:spLocks/>
          </p:cNvSpPr>
          <p:nvPr/>
        </p:nvSpPr>
        <p:spPr>
          <a:xfrm>
            <a:off x="861457" y="3698771"/>
            <a:ext cx="6369132" cy="539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/>
              <a:t>다른 실험 환경에서의 적용</a:t>
            </a:r>
            <a:endParaRPr lang="en-US" altLang="ko-KR" b="1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B704238-D9C8-09BB-A653-9FC8090F4A11}"/>
              </a:ext>
            </a:extLst>
          </p:cNvPr>
          <p:cNvSpPr txBox="1">
            <a:spLocks/>
          </p:cNvSpPr>
          <p:nvPr/>
        </p:nvSpPr>
        <p:spPr>
          <a:xfrm>
            <a:off x="838200" y="4181796"/>
            <a:ext cx="10387940" cy="1095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 err="1"/>
              <a:t>Acrobot</a:t>
            </a:r>
            <a:r>
              <a:rPr lang="ko-KR" altLang="en-US" dirty="0"/>
              <a:t>과 </a:t>
            </a:r>
            <a:r>
              <a:rPr lang="en-US" altLang="ko-KR" dirty="0" err="1"/>
              <a:t>MountainCar</a:t>
            </a:r>
            <a:r>
              <a:rPr lang="en-US" altLang="ko-KR" dirty="0"/>
              <a:t> </a:t>
            </a:r>
            <a:r>
              <a:rPr lang="ko-KR" altLang="en-US" dirty="0"/>
              <a:t>등 본 실험의 </a:t>
            </a:r>
            <a:r>
              <a:rPr lang="en-US" altLang="ko-KR" dirty="0"/>
              <a:t>CartPole-v1</a:t>
            </a:r>
            <a:r>
              <a:rPr lang="ko-KR" altLang="en-US" dirty="0"/>
              <a:t>이 아닌 다른 환경에서도 적용되는지 확인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73535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440</Words>
  <Application>Microsoft Office PowerPoint</Application>
  <PresentationFormat>와이드스크린</PresentationFormat>
  <Paragraphs>87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Proximal Policy Optimization Algorithms</vt:lpstr>
      <vt:lpstr>프로젝트 주제 및 목표</vt:lpstr>
      <vt:lpstr>실험 환경 및 데이터 processing</vt:lpstr>
      <vt:lpstr>State &amp; Action &amp; Reward</vt:lpstr>
      <vt:lpstr>알고리즘 &amp; Hyperparameter : Baseline</vt:lpstr>
      <vt:lpstr>알고리즘 &amp; Hyperparameter : Main</vt:lpstr>
      <vt:lpstr>실험 환경 및 Setup</vt:lpstr>
      <vt:lpstr>실험 결과</vt:lpstr>
      <vt:lpstr>실험 결과</vt:lpstr>
      <vt:lpstr>토의 및 결론</vt:lpstr>
      <vt:lpstr>개선점 및 추가 실험 방향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이시욱</dc:creator>
  <cp:lastModifiedBy>이시욱</cp:lastModifiedBy>
  <cp:revision>37</cp:revision>
  <dcterms:created xsi:type="dcterms:W3CDTF">2025-12-06T04:08:44Z</dcterms:created>
  <dcterms:modified xsi:type="dcterms:W3CDTF">2025-12-06T18:29:08Z</dcterms:modified>
</cp:coreProperties>
</file>